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" id="{8784fb92-2438-7741-8483-e2117e143769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F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A1F3D"/>
                </a:solidFill>
                <a:latin typeface="+mn-lt"/>
              </a:rPr>
              <a:t>Headcount: plan vs actual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9AA3B8"/>
            </a:solidFill>
            <a:ln w="38100" cap="flat">
              <a:solidFill>
                <a:srgbClr val="9AA3B8"/>
              </a:solidFill>
              <a:prstDash val="dash,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3B8"/>
              </a:solidFill>
              <a:ln w="9525" cap="flat">
                <a:solidFill>
                  <a:srgbClr val="9A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  <c:pt idx="6">
                    <c:v>Oct</c:v>
                  </c:pt>
                  <c:pt idx="7">
                    <c:v>Nov</c:v>
                  </c:pt>
                  <c:pt idx="8">
                    <c:v>Dec</c:v>
                  </c:pt>
                  <c:pt idx="9">
                    <c:v>Jan</c:v>
                  </c:pt>
                  <c:pt idx="10">
                    <c:v>Feb</c:v>
                  </c:pt>
                  <c:pt idx="11">
                    <c:v>Mar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152</c:v>
                </c:pt>
                <c:pt idx="1">
                  <c:v>158</c:v>
                </c:pt>
                <c:pt idx="2">
                  <c:v>163</c:v>
                </c:pt>
                <c:pt idx="3">
                  <c:v>170</c:v>
                </c:pt>
                <c:pt idx="4">
                  <c:v>176</c:v>
                </c:pt>
                <c:pt idx="5">
                  <c:v>181</c:v>
                </c:pt>
                <c:pt idx="6">
                  <c:v>188</c:v>
                </c:pt>
                <c:pt idx="7">
                  <c:v>194</c:v>
                </c:pt>
                <c:pt idx="8">
                  <c:v>199</c:v>
                </c:pt>
                <c:pt idx="9">
                  <c:v>206</c:v>
                </c:pt>
                <c:pt idx="10">
                  <c:v>212</c:v>
                </c:pt>
                <c:pt idx="11">
                  <c:v>217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B2A5E"/>
            </a:solidFill>
            <a:ln w="38100" cap="flat">
              <a:solidFill>
                <a:srgbClr val="1B2A5E"/>
              </a:solidFill>
              <a:prstDash val="dash,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2A5E"/>
              </a:solidFill>
              <a:ln w="9525" cap="flat">
                <a:solidFill>
                  <a:srgbClr val="1B2A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  <c:pt idx="6">
                    <c:v>Oct</c:v>
                  </c:pt>
                  <c:pt idx="7">
                    <c:v>Nov</c:v>
                  </c:pt>
                  <c:pt idx="8">
                    <c:v>Dec</c:v>
                  </c:pt>
                  <c:pt idx="9">
                    <c:v>Jan</c:v>
                  </c:pt>
                  <c:pt idx="10">
                    <c:v>Feb</c:v>
                  </c:pt>
                  <c:pt idx="11">
                    <c:v>Mar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150</c:v>
                </c:pt>
                <c:pt idx="1">
                  <c:v>153</c:v>
                </c:pt>
                <c:pt idx="2">
                  <c:v>158</c:v>
                </c:pt>
                <c:pt idx="3">
                  <c:v>162</c:v>
                </c:pt>
                <c:pt idx="4">
                  <c:v>164</c:v>
                </c:pt>
                <c:pt idx="5">
                  <c:v>169</c:v>
                </c:pt>
                <c:pt idx="6">
                  <c:v>173</c:v>
                </c:pt>
                <c:pt idx="7">
                  <c:v>176</c:v>
                </c:pt>
                <c:pt idx="8">
                  <c:v>180</c:v>
                </c:pt>
                <c:pt idx="9">
                  <c:v>185</c:v>
                </c:pt>
                <c:pt idx="10">
                  <c:v>190</c:v>
                </c:pt>
                <c:pt idx="11">
                  <c:v>193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"/>
          <c:min val="140"/>
        </c:scaling>
        <c:delete val="0"/>
        <c:axPos val="l"/>
        <c:majorGridlines>
          <c:spPr>
            <a:ln w="9525" cap="flat">
              <a:solidFill>
                <a:srgbClr val="E3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251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F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A1F3D"/>
                </a:solidFill>
                <a:latin typeface="+mn-lt"/>
              </a:rPr>
              <a:t>Headcount shortfall vs plan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Shortfall vs plan (%)</c:v>
                </c:pt>
              </c:strCache>
            </c:strRef>
          </c:tx>
          <c:spPr>
            <a:solidFill>
              <a:srgbClr val="1B2A5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A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2A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B1D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FB1D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Product</c:v>
                  </c:pt>
                  <c:pt idx="1">
                    <c:v>Engineering</c:v>
                  </c:pt>
                  <c:pt idx="2">
                    <c:v>Finance</c:v>
                  </c:pt>
                  <c:pt idx="3">
                    <c:v>Operations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18.9</c:v>
                </c:pt>
                <c:pt idx="1">
                  <c:v>14.6</c:v>
                </c:pt>
                <c:pt idx="2">
                  <c:v>4.2</c:v>
                </c:pt>
                <c:pt idx="3">
                  <c:v>3.3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1F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F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actual headcount ended the year at 193 against a plan of 217, 11.1% below. Spend is 6.1% under plan. Hiring was almost on plan (71 of 72 planned hires), so the gap needs explaining on the next slide. All figures are simulated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 headcount rose by 48 against a planned rise of 72. Only 1 of the 24 missing people is a hiring shortfall (71 hires vs 72 planned); 23 are attrition, which the plan did not include. By department, Engineering lost 10 people and Operations 9. Operations hired above plan, which hides shortfalls in Engineering and Product. Simulated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actions in priority order. Attrition is the biggest driver of the gap. The spend underrun is a side effect of vacancies, so the budget should be re-forecast with an explicit attrition assumption. Simulated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Simulated sample data  |  FY Apr 2025 to Mar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1B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Simulated sample data  |  FY Apr 2025 to Mar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Simulated sample data  |  FY Apr 2025 to Mar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">
    <p:bg>
      <p:bgPr>
        <a:solidFill>
          <a:srgbClr val="1B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Simulated sample data  |  FY Apr 2025 to Mar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Headcount is 11% behind plan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457200" y="1188720"/>
            <a:ext cx="19202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4" name="Stat value 1"/>
          <p:cNvSpPr txBox="1"/>
          <p:nvPr/>
        </p:nvSpPr>
        <p:spPr>
          <a:xfrm>
            <a:off x="594360" y="126187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</a:t>
            </a:r>
            <a:endParaRPr lang="en-US" sz="3000" dirty="0"/>
          </a:p>
        </p:txBody>
      </p:sp>
      <p:sp>
        <p:nvSpPr>
          <p:cNvPr id="5" name="Stat label 1"/>
          <p:cNvSpPr txBox="1"/>
          <p:nvPr/>
        </p:nvSpPr>
        <p:spPr>
          <a:xfrm>
            <a:off x="594360" y="18470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Actual headcount (plan: 217)</a:t>
            </a:r>
            <a:endParaRPr lang="en-US" sz="1200" dirty="0"/>
          </a:p>
        </p:txBody>
      </p:sp>
      <p:sp>
        <p:nvSpPr>
          <p:cNvPr id="6" name="Stat card 2"/>
          <p:cNvSpPr/>
          <p:nvPr/>
        </p:nvSpPr>
        <p:spPr>
          <a:xfrm>
            <a:off x="2560320" y="1188720"/>
            <a:ext cx="19202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7" name="Stat value 2"/>
          <p:cNvSpPr txBox="1"/>
          <p:nvPr/>
        </p:nvSpPr>
        <p:spPr>
          <a:xfrm>
            <a:off x="2697480" y="126187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-11.1%</a:t>
            </a:r>
            <a:endParaRPr lang="en-US" sz="3000" dirty="0"/>
          </a:p>
        </p:txBody>
      </p:sp>
      <p:sp>
        <p:nvSpPr>
          <p:cNvPr id="8" name="Stat label 2"/>
          <p:cNvSpPr txBox="1"/>
          <p:nvPr/>
        </p:nvSpPr>
        <p:spPr>
          <a:xfrm>
            <a:off x="2697480" y="18470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Headcount vs plan</a:t>
            </a:r>
            <a:endParaRPr lang="en-US" sz="1200" dirty="0"/>
          </a:p>
        </p:txBody>
      </p:sp>
      <p:sp>
        <p:nvSpPr>
          <p:cNvPr id="9" name="Stat card 3"/>
          <p:cNvSpPr/>
          <p:nvPr/>
        </p:nvSpPr>
        <p:spPr>
          <a:xfrm>
            <a:off x="4663440" y="1188720"/>
            <a:ext cx="19202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0" name="Stat value 3"/>
          <p:cNvSpPr txBox="1"/>
          <p:nvPr/>
        </p:nvSpPr>
        <p:spPr>
          <a:xfrm>
            <a:off x="4800600" y="126187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-6.1%</a:t>
            </a:r>
            <a:endParaRPr lang="en-US" sz="3000" dirty="0"/>
          </a:p>
        </p:txBody>
      </p:sp>
      <p:sp>
        <p:nvSpPr>
          <p:cNvPr id="11" name="Stat label 3"/>
          <p:cNvSpPr txBox="1"/>
          <p:nvPr/>
        </p:nvSpPr>
        <p:spPr>
          <a:xfrm>
            <a:off x="4800600" y="18470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Spend vs plan</a:t>
            </a:r>
            <a:endParaRPr lang="en-US" sz="1200" dirty="0"/>
          </a:p>
        </p:txBody>
      </p:sp>
      <p:sp>
        <p:nvSpPr>
          <p:cNvPr id="12" name="Stat card 4"/>
          <p:cNvSpPr/>
          <p:nvPr/>
        </p:nvSpPr>
        <p:spPr>
          <a:xfrm>
            <a:off x="6766560" y="1188720"/>
            <a:ext cx="19202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3" name="Stat value 4"/>
          <p:cNvSpPr txBox="1"/>
          <p:nvPr/>
        </p:nvSpPr>
        <p:spPr>
          <a:xfrm>
            <a:off x="6903720" y="126187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98.6%</a:t>
            </a:r>
            <a:endParaRPr lang="en-US" sz="3000" dirty="0"/>
          </a:p>
        </p:txBody>
      </p:sp>
      <p:sp>
        <p:nvSpPr>
          <p:cNvPr id="14" name="Stat label 4"/>
          <p:cNvSpPr txBox="1"/>
          <p:nvPr/>
        </p:nvSpPr>
        <p:spPr>
          <a:xfrm>
            <a:off x="6903720" y="18470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Hiring vs plan (71 of 72 hires)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57200" y="2514600"/>
          <a:ext cx="82296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Attrition drives the gap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114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 card 1"/>
          <p:cNvSpPr/>
          <p:nvPr/>
        </p:nvSpPr>
        <p:spPr>
          <a:xfrm>
            <a:off x="4846320" y="1188720"/>
            <a:ext cx="38404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5" name="Callout value 1"/>
          <p:cNvSpPr txBox="1"/>
          <p:nvPr/>
        </p:nvSpPr>
        <p:spPr>
          <a:xfrm>
            <a:off x="5029200" y="12984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of 24</a:t>
            </a:r>
            <a:endParaRPr lang="en-US" sz="3000" dirty="0"/>
          </a:p>
        </p:txBody>
      </p:sp>
      <p:sp>
        <p:nvSpPr>
          <p:cNvPr id="6" name="Callout text 1"/>
          <p:cNvSpPr txBox="1"/>
          <p:nvPr/>
        </p:nvSpPr>
        <p:spPr>
          <a:xfrm>
            <a:off x="5029200" y="18745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missing people are exits. The plan assumed no one would leave.</a:t>
            </a:r>
            <a:endParaRPr lang="en-US" sz="1400" dirty="0"/>
          </a:p>
        </p:txBody>
      </p:sp>
      <p:sp>
        <p:nvSpPr>
          <p:cNvPr id="7" name="Callout card 2"/>
          <p:cNvSpPr/>
          <p:nvPr/>
        </p:nvSpPr>
        <p:spPr>
          <a:xfrm>
            <a:off x="4846320" y="2971800"/>
            <a:ext cx="38404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8" name="Callout value 2"/>
          <p:cNvSpPr txBox="1"/>
          <p:nvPr/>
        </p:nvSpPr>
        <p:spPr>
          <a:xfrm>
            <a:off x="5029200" y="30815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 / -4 / -4</a:t>
            </a:r>
            <a:endParaRPr lang="en-US" sz="3000" dirty="0"/>
          </a:p>
        </p:txBody>
      </p:sp>
      <p:sp>
        <p:nvSpPr>
          <p:cNvPr id="9" name="Callout text 2"/>
          <p:cNvSpPr txBox="1"/>
          <p:nvPr/>
        </p:nvSpPr>
        <p:spPr>
          <a:xfrm>
            <a:off x="5029200" y="3657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Operations hired 7 above plan, while Engineering and Product each hired 4 below. Overall hiring only looks on plan.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Recommended next steps</a:t>
            </a:r>
            <a:endParaRPr lang="en-US" sz="3200" dirty="0"/>
          </a:p>
        </p:txBody>
      </p:sp>
      <p:sp>
        <p:nvSpPr>
          <p:cNvPr id="3" name="Action card 1"/>
          <p:cNvSpPr/>
          <p:nvPr/>
        </p:nvSpPr>
        <p:spPr>
          <a:xfrm>
            <a:off x="457200" y="1234440"/>
            <a:ext cx="3931920" cy="1508760"/>
          </a:xfrm>
          <a:prstGeom prst="roundRect">
            <a:avLst>
              <a:gd name="adj" fmla="val 4848"/>
            </a:avLst>
          </a:prstGeom>
          <a:solidFill>
            <a:schemeClr val="accent4"/>
          </a:solidFill>
          <a:ln/>
        </p:spPr>
      </p:sp>
      <p:sp>
        <p:nvSpPr>
          <p:cNvPr id="4" name="Action number 1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Action digit 1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Action title 1"/>
          <p:cNvSpPr txBox="1"/>
          <p:nvPr/>
        </p:nvSpPr>
        <p:spPr>
          <a:xfrm>
            <a:off x="1234440" y="1399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Tackle attrition first</a:t>
            </a:r>
            <a:endParaRPr lang="en-US" sz="1600" dirty="0"/>
          </a:p>
        </p:txBody>
      </p:sp>
      <p:sp>
        <p:nvSpPr>
          <p:cNvPr id="7" name="Action text 1"/>
          <p:cNvSpPr txBox="1"/>
          <p:nvPr/>
        </p:nvSpPr>
        <p:spPr>
          <a:xfrm>
            <a:off x="1234440" y="18013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Engineering and Operations account for 19 of 23 exits. Review exit reasons and retention steps.</a:t>
            </a:r>
            <a:endParaRPr lang="en-US" sz="1400" dirty="0"/>
          </a:p>
        </p:txBody>
      </p:sp>
      <p:sp>
        <p:nvSpPr>
          <p:cNvPr id="8" name="Action card 2"/>
          <p:cNvSpPr/>
          <p:nvPr/>
        </p:nvSpPr>
        <p:spPr>
          <a:xfrm>
            <a:off x="4754880" y="1234440"/>
            <a:ext cx="3931920" cy="1508760"/>
          </a:xfrm>
          <a:prstGeom prst="roundRect">
            <a:avLst>
              <a:gd name="adj" fmla="val 4848"/>
            </a:avLst>
          </a:prstGeom>
          <a:solidFill>
            <a:schemeClr val="accent4"/>
          </a:solidFill>
          <a:ln/>
        </p:spPr>
      </p:sp>
      <p:sp>
        <p:nvSpPr>
          <p:cNvPr id="9" name="Action number 2"/>
          <p:cNvSpPr/>
          <p:nvPr/>
        </p:nvSpPr>
        <p:spPr>
          <a:xfrm>
            <a:off x="4937760" y="14173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Action digit 2"/>
          <p:cNvSpPr txBox="1"/>
          <p:nvPr/>
        </p:nvSpPr>
        <p:spPr>
          <a:xfrm>
            <a:off x="49377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Action title 2"/>
          <p:cNvSpPr txBox="1"/>
          <p:nvPr/>
        </p:nvSpPr>
        <p:spPr>
          <a:xfrm>
            <a:off x="5532120" y="1399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Close the hiring gaps</a:t>
            </a:r>
            <a:endParaRPr lang="en-US" sz="1600" dirty="0"/>
          </a:p>
        </p:txBody>
      </p:sp>
      <p:sp>
        <p:nvSpPr>
          <p:cNvPr id="12" name="Action text 2"/>
          <p:cNvSpPr txBox="1"/>
          <p:nvPr/>
        </p:nvSpPr>
        <p:spPr>
          <a:xfrm>
            <a:off x="5532120" y="18013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Engineering and Product are each 4 hires short of plan. Prioritise those open roles.</a:t>
            </a:r>
            <a:endParaRPr lang="en-US" sz="1400" dirty="0"/>
          </a:p>
        </p:txBody>
      </p:sp>
      <p:sp>
        <p:nvSpPr>
          <p:cNvPr id="13" name="Action card 3"/>
          <p:cNvSpPr/>
          <p:nvPr/>
        </p:nvSpPr>
        <p:spPr>
          <a:xfrm>
            <a:off x="457200" y="2926080"/>
            <a:ext cx="3931920" cy="1508760"/>
          </a:xfrm>
          <a:prstGeom prst="roundRect">
            <a:avLst>
              <a:gd name="adj" fmla="val 4848"/>
            </a:avLst>
          </a:prstGeom>
          <a:solidFill>
            <a:schemeClr val="accent4"/>
          </a:solidFill>
          <a:ln/>
        </p:spPr>
      </p:sp>
      <p:sp>
        <p:nvSpPr>
          <p:cNvPr id="14" name="Action number 3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Action digit 3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Action title 3"/>
          <p:cNvSpPr txBox="1"/>
          <p:nvPr/>
        </p:nvSpPr>
        <p:spPr>
          <a:xfrm>
            <a:off x="1234440" y="30906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Review Operations spend</a:t>
            </a:r>
            <a:endParaRPr lang="en-US" sz="1600" dirty="0"/>
          </a:p>
        </p:txBody>
      </p:sp>
      <p:sp>
        <p:nvSpPr>
          <p:cNvPr id="17" name="Action text 3"/>
          <p:cNvSpPr txBox="1"/>
          <p:nvPr/>
        </p:nvSpPr>
        <p:spPr>
          <a:xfrm>
            <a:off x="1234440" y="34930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Spend is 10.7% over plan even though headcount is near plan. Find out what is driving it.</a:t>
            </a:r>
            <a:endParaRPr lang="en-US" sz="1400" dirty="0"/>
          </a:p>
        </p:txBody>
      </p:sp>
      <p:sp>
        <p:nvSpPr>
          <p:cNvPr id="18" name="Action card 4"/>
          <p:cNvSpPr/>
          <p:nvPr/>
        </p:nvSpPr>
        <p:spPr>
          <a:xfrm>
            <a:off x="4754880" y="2926080"/>
            <a:ext cx="3931920" cy="1508760"/>
          </a:xfrm>
          <a:prstGeom prst="roundRect">
            <a:avLst>
              <a:gd name="adj" fmla="val 4848"/>
            </a:avLst>
          </a:prstGeom>
          <a:solidFill>
            <a:schemeClr val="accent4"/>
          </a:solidFill>
          <a:ln/>
        </p:spPr>
      </p:sp>
      <p:sp>
        <p:nvSpPr>
          <p:cNvPr id="19" name="Action number 4"/>
          <p:cNvSpPr/>
          <p:nvPr/>
        </p:nvSpPr>
        <p:spPr>
          <a:xfrm>
            <a:off x="4937760" y="31089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Action digit 4"/>
          <p:cNvSpPr txBox="1"/>
          <p:nvPr/>
        </p:nvSpPr>
        <p:spPr>
          <a:xfrm>
            <a:off x="49377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Action title 4"/>
          <p:cNvSpPr txBox="1"/>
          <p:nvPr/>
        </p:nvSpPr>
        <p:spPr>
          <a:xfrm>
            <a:off x="5532120" y="30906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Re-forecast with attrition</a:t>
            </a:r>
            <a:endParaRPr lang="en-US" sz="1600" dirty="0"/>
          </a:p>
        </p:txBody>
      </p:sp>
      <p:sp>
        <p:nvSpPr>
          <p:cNvPr id="22" name="Action text 4"/>
          <p:cNvSpPr txBox="1"/>
          <p:nvPr/>
        </p:nvSpPr>
        <p:spPr>
          <a:xfrm>
            <a:off x="5532120" y="34930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Spend is 6% under plan mainly because roles are empty, not because of savings. Add an attrition assumption.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dcount Navy">
  <a:themeElements>
    <a:clrScheme name="Headcount Navy">
      <a:dk1>
        <a:srgbClr val="1A1F3D"/>
      </a:dk1>
      <a:lt1>
        <a:srgbClr val="FFFFFF"/>
      </a:lt1>
      <a:dk2>
        <a:srgbClr val="1B2A5E"/>
      </a:dk2>
      <a:lt2>
        <a:srgbClr val="EAF0F8"/>
      </a:lt2>
      <a:accent1>
        <a:srgbClr val="1B2A5E"/>
      </a:accent1>
      <a:accent2>
        <a:srgbClr val="8FB1D9"/>
      </a:accent2>
      <a:accent3>
        <a:srgbClr val="E4572E"/>
      </a:accent3>
      <a:accent4>
        <a:srgbClr val="2D3C7C"/>
      </a:accent4>
      <a:accent5>
        <a:srgbClr val="6B7280"/>
      </a:accent5>
      <a:accent6>
        <a:srgbClr val="AFC6E0"/>
      </a:accent6>
      <a:hlink>
        <a:srgbClr val="2D3C7C"/>
      </a:hlink>
      <a:folHlink>
        <a:srgbClr val="6B7280"/>
      </a:folHlink>
    </a:clrScheme>
    <a:fontScheme name="Headcount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Headcount &amp; Spend: Actual vs Plan</dc:title>
  <dc:subject>PptxGenJS Presentation</dc:subject>
  <dc:creator>Sana Angel Rose</dc:creator>
  <cp:lastModifiedBy>Sana Angel Rose</cp:lastModifiedBy>
  <cp:revision>1</cp:revision>
  <dcterms:created xsi:type="dcterms:W3CDTF">2026-10-10T21:38:49Z</dcterms:created>
  <dcterms:modified xsi:type="dcterms:W3CDTF">2026-10-10T21:38:49Z</dcterms:modified>
</cp:coreProperties>
</file>